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21383625" cy="30275213"/>
  <p:notesSz cx="6858000" cy="9144000"/>
  <p:defaultTextStyle>
    <a:defPPr>
      <a:defRPr lang="ko-KR"/>
    </a:defPPr>
    <a:lvl1pPr marL="0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1pPr>
    <a:lvl2pPr marL="1475007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2pPr>
    <a:lvl3pPr marL="2950016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3pPr>
    <a:lvl4pPr marL="442502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4pPr>
    <a:lvl5pPr marL="590002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5pPr>
    <a:lvl6pPr marL="7375035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6pPr>
    <a:lvl7pPr marL="8850044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7pPr>
    <a:lvl8pPr marL="10325052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8pPr>
    <a:lvl9pPr marL="11800059" algn="l" defTabSz="2950016" rtl="0" eaLnBrk="1" latinLnBrk="1" hangingPunct="1">
      <a:defRPr sz="57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130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116"/>
    <a:srgbClr val="E6E6E6"/>
    <a:srgbClr val="AC6200"/>
    <a:srgbClr val="FFC34B"/>
    <a:srgbClr val="F7A400"/>
    <a:srgbClr val="F37413"/>
    <a:srgbClr val="F9E699"/>
    <a:srgbClr val="9CC57D"/>
    <a:srgbClr val="8EA604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1" autoAdjust="0"/>
    <p:restoredTop sz="94746" autoAdjust="0"/>
  </p:normalViewPr>
  <p:slideViewPr>
    <p:cSldViewPr showGuides="1">
      <p:cViewPr varScale="1">
        <p:scale>
          <a:sx n="24" d="100"/>
          <a:sy n="24" d="100"/>
        </p:scale>
        <p:origin x="644" y="52"/>
      </p:cViewPr>
      <p:guideLst>
        <p:guide orient="horz" pos="9536"/>
        <p:guide pos="6735"/>
        <p:guide pos="424"/>
        <p:guide pos="130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208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75A67-930C-4E92-A71E-AE4DD44D14D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1B17-461A-4354-B8E8-CB912E0E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55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1pPr>
    <a:lvl2pPr marL="32301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2pPr>
    <a:lvl3pPr marL="64602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3pPr>
    <a:lvl4pPr marL="969039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4pPr>
    <a:lvl5pPr marL="1292054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5pPr>
    <a:lvl6pPr marL="1615066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6pPr>
    <a:lvl7pPr marL="1938080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7pPr>
    <a:lvl8pPr marL="2261093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8pPr>
    <a:lvl9pPr marL="2584107" algn="l" defTabSz="646026" rtl="0" eaLnBrk="1" latinLnBrk="1" hangingPunct="1">
      <a:defRPr sz="8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794A-824E-2619-ABF6-DCCF1825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FD49EB-A82B-D010-AAED-14AFF4EC1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0A3B99-2E42-566F-CD62-AA21BE88E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1BBA92-5963-801A-40E3-E118550A5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11B17-461A-4354-B8E8-CB912E0EE15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15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E54038C-C7A5-DF70-164D-A1560BD81914}"/>
              </a:ext>
            </a:extLst>
          </p:cNvPr>
          <p:cNvGrpSpPr/>
          <p:nvPr userDrawn="1"/>
        </p:nvGrpSpPr>
        <p:grpSpPr>
          <a:xfrm>
            <a:off x="0" y="30037286"/>
            <a:ext cx="21383626" cy="237927"/>
            <a:chOff x="7698" y="1"/>
            <a:chExt cx="32363652" cy="55516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D7BA7F9-2FE2-459B-0C4D-1FAD48C85AB1}"/>
                </a:ext>
              </a:extLst>
            </p:cNvPr>
            <p:cNvSpPr/>
            <p:nvPr/>
          </p:nvSpPr>
          <p:spPr>
            <a:xfrm>
              <a:off x="10771260" y="1"/>
              <a:ext cx="21600090" cy="555160"/>
            </a:xfrm>
            <a:prstGeom prst="rect">
              <a:avLst/>
            </a:prstGeom>
            <a:solidFill>
              <a:srgbClr val="AC6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0AA8ECC-4BF9-BE30-BD88-6DE5F2429749}"/>
                </a:ext>
              </a:extLst>
            </p:cNvPr>
            <p:cNvSpPr/>
            <p:nvPr/>
          </p:nvSpPr>
          <p:spPr>
            <a:xfrm>
              <a:off x="7698" y="1"/>
              <a:ext cx="21600090" cy="555160"/>
            </a:xfrm>
            <a:prstGeom prst="rect">
              <a:avLst/>
            </a:prstGeom>
            <a:solidFill>
              <a:srgbClr val="AC6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9CA4F2C-FC5F-7C1F-3730-792D44BB09F7}"/>
                </a:ext>
              </a:extLst>
            </p:cNvPr>
            <p:cNvSpPr/>
            <p:nvPr/>
          </p:nvSpPr>
          <p:spPr>
            <a:xfrm>
              <a:off x="5399598" y="1"/>
              <a:ext cx="21600090" cy="555160"/>
            </a:xfrm>
            <a:prstGeom prst="rect">
              <a:avLst/>
            </a:prstGeom>
            <a:solidFill>
              <a:srgbClr val="B0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19DEB0-06FE-61C4-83A1-E6DDEED2EAEB}"/>
              </a:ext>
            </a:extLst>
          </p:cNvPr>
          <p:cNvGrpSpPr/>
          <p:nvPr userDrawn="1"/>
        </p:nvGrpSpPr>
        <p:grpSpPr>
          <a:xfrm>
            <a:off x="-235" y="0"/>
            <a:ext cx="21384538" cy="4719954"/>
            <a:chOff x="-26762" y="-1"/>
            <a:chExt cx="30276505" cy="667317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4A0017C-9D1D-44DD-D423-D10D6A6E6057}"/>
                </a:ext>
              </a:extLst>
            </p:cNvPr>
            <p:cNvSpPr/>
            <p:nvPr userDrawn="1"/>
          </p:nvSpPr>
          <p:spPr>
            <a:xfrm>
              <a:off x="-26135" y="-1"/>
              <a:ext cx="30275878" cy="6480000"/>
            </a:xfrm>
            <a:prstGeom prst="rect">
              <a:avLst/>
            </a:prstGeom>
            <a:solidFill>
              <a:srgbClr val="B0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4D5095-DFAB-FCB4-5A66-FCFEACFF5485}"/>
                </a:ext>
              </a:extLst>
            </p:cNvPr>
            <p:cNvSpPr/>
            <p:nvPr userDrawn="1"/>
          </p:nvSpPr>
          <p:spPr>
            <a:xfrm>
              <a:off x="-26762" y="6199176"/>
              <a:ext cx="30275878" cy="473998"/>
            </a:xfrm>
            <a:prstGeom prst="rect">
              <a:avLst/>
            </a:prstGeom>
            <a:solidFill>
              <a:srgbClr val="AC6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2"/>
            </a:p>
          </p:txBody>
        </p:sp>
      </p:grpSp>
    </p:spTree>
    <p:extLst>
      <p:ext uri="{BB962C8B-B14F-4D97-AF65-F5344CB8AC3E}">
        <p14:creationId xmlns:p14="http://schemas.microsoft.com/office/powerpoint/2010/main" val="251155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1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199399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AC176D51-4B99-102F-04CD-89BE9B269BC8}"/>
              </a:ext>
            </a:extLst>
          </p:cNvPr>
          <p:cNvSpPr/>
          <p:nvPr userDrawn="1"/>
        </p:nvSpPr>
        <p:spPr>
          <a:xfrm>
            <a:off x="10691813" y="5285114"/>
            <a:ext cx="0" cy="24189749"/>
          </a:xfrm>
          <a:custGeom>
            <a:avLst/>
            <a:gdLst>
              <a:gd name="connsiteX0" fmla="*/ 0 w 0"/>
              <a:gd name="connsiteY0" fmla="*/ 0 h 34355314"/>
              <a:gd name="connsiteX1" fmla="*/ 0 w 0"/>
              <a:gd name="connsiteY1" fmla="*/ 34355314 h 3435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4355314">
                <a:moveTo>
                  <a:pt x="0" y="0"/>
                </a:moveTo>
                <a:lnTo>
                  <a:pt x="0" y="34355314"/>
                </a:lnTo>
              </a:path>
            </a:pathLst>
          </a:custGeom>
          <a:noFill/>
          <a:ln w="9525">
            <a:solidFill>
              <a:schemeClr val="bg1">
                <a:lumMod val="85000"/>
              </a:schemeClr>
            </a:solidFill>
            <a:headEnd type="oval" w="sm" len="med"/>
            <a:tailEnd type="oval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2"/>
          </a:p>
        </p:txBody>
      </p:sp>
    </p:spTree>
    <p:extLst>
      <p:ext uri="{BB962C8B-B14F-4D97-AF65-F5344CB8AC3E}">
        <p14:creationId xmlns:p14="http://schemas.microsoft.com/office/powerpoint/2010/main" val="21965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67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4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6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9181" y="1212415"/>
            <a:ext cx="19245263" cy="5045868"/>
          </a:xfrm>
          <a:prstGeom prst="rect">
            <a:avLst/>
          </a:prstGeom>
        </p:spPr>
        <p:txBody>
          <a:bodyPr vert="horz" lIns="417635" tIns="208818" rIns="417635" bIns="20881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181" y="7064223"/>
            <a:ext cx="19245263" cy="19980241"/>
          </a:xfrm>
          <a:prstGeom prst="rect">
            <a:avLst/>
          </a:prstGeom>
        </p:spPr>
        <p:txBody>
          <a:bodyPr vert="horz" lIns="417635" tIns="208818" rIns="417635" bIns="20881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69185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l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06075" y="28060641"/>
            <a:ext cx="6771481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ct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324936" y="28060641"/>
            <a:ext cx="4989513" cy="1611875"/>
          </a:xfrm>
          <a:prstGeom prst="rect">
            <a:avLst/>
          </a:prstGeom>
        </p:spPr>
        <p:txBody>
          <a:bodyPr vert="horz" lIns="417635" tIns="208818" rIns="417635" bIns="208818" rtlCol="0" anchor="ctr"/>
          <a:lstStyle>
            <a:lvl1pPr algn="r">
              <a:defRPr sz="3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  <p:sldLayoutId id="2147483659" r:id="rId5"/>
    <p:sldLayoutId id="2147483660" r:id="rId6"/>
  </p:sldLayoutIdLst>
  <p:txStyles>
    <p:titleStyle>
      <a:lvl1pPr algn="ctr" defTabSz="2777100" rtl="0" eaLnBrk="1" latinLnBrk="1" hangingPunct="1">
        <a:spcBef>
          <a:spcPct val="0"/>
        </a:spcBef>
        <a:buNone/>
        <a:defRPr sz="133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1412" indent="-1041412" algn="l" defTabSz="2777100" rtl="0" eaLnBrk="1" latinLnBrk="1" hangingPunct="1">
        <a:spcBef>
          <a:spcPct val="20000"/>
        </a:spcBef>
        <a:buFont typeface="Arial" pitchFamily="34" charset="0"/>
        <a:buChar char="•"/>
        <a:defRPr sz="9708" kern="1200">
          <a:solidFill>
            <a:schemeClr val="tx1"/>
          </a:solidFill>
          <a:latin typeface="+mn-lt"/>
          <a:ea typeface="+mn-ea"/>
          <a:cs typeface="+mn-cs"/>
        </a:defRPr>
      </a:lvl1pPr>
      <a:lvl2pPr marL="2256393" indent="-867844" algn="l" defTabSz="2777100" rtl="0" eaLnBrk="1" latinLnBrk="1" hangingPunct="1">
        <a:spcBef>
          <a:spcPct val="20000"/>
        </a:spcBef>
        <a:buFont typeface="Arial" pitchFamily="34" charset="0"/>
        <a:buChar char="–"/>
        <a:defRPr sz="8445" kern="1200">
          <a:solidFill>
            <a:schemeClr val="tx1"/>
          </a:solidFill>
          <a:latin typeface="+mn-lt"/>
          <a:ea typeface="+mn-ea"/>
          <a:cs typeface="+mn-cs"/>
        </a:defRPr>
      </a:lvl2pPr>
      <a:lvl3pPr marL="34713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7314" kern="1200">
          <a:solidFill>
            <a:schemeClr val="tx1"/>
          </a:solidFill>
          <a:latin typeface="+mn-lt"/>
          <a:ea typeface="+mn-ea"/>
          <a:cs typeface="+mn-cs"/>
        </a:defRPr>
      </a:lvl3pPr>
      <a:lvl4pPr marL="4859922" indent="-694276" algn="l" defTabSz="2777100" rtl="0" eaLnBrk="1" latinLnBrk="1" hangingPunct="1">
        <a:spcBef>
          <a:spcPct val="20000"/>
        </a:spcBef>
        <a:buFont typeface="Arial" pitchFamily="34" charset="0"/>
        <a:buChar char="–"/>
        <a:defRPr sz="6052" kern="1200">
          <a:solidFill>
            <a:schemeClr val="tx1"/>
          </a:solidFill>
          <a:latin typeface="+mn-lt"/>
          <a:ea typeface="+mn-ea"/>
          <a:cs typeface="+mn-cs"/>
        </a:defRPr>
      </a:lvl4pPr>
      <a:lvl5pPr marL="6248472" indent="-694276" algn="l" defTabSz="2777100" rtl="0" eaLnBrk="1" latinLnBrk="1" hangingPunct="1">
        <a:spcBef>
          <a:spcPct val="20000"/>
        </a:spcBef>
        <a:buFont typeface="Arial" pitchFamily="34" charset="0"/>
        <a:buChar char="»"/>
        <a:defRPr sz="6052" kern="1200">
          <a:solidFill>
            <a:schemeClr val="tx1"/>
          </a:solidFill>
          <a:latin typeface="+mn-lt"/>
          <a:ea typeface="+mn-ea"/>
          <a:cs typeface="+mn-cs"/>
        </a:defRPr>
      </a:lvl5pPr>
      <a:lvl6pPr marL="763702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6pPr>
      <a:lvl7pPr marL="9025573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7pPr>
      <a:lvl8pPr marL="10414122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70" indent="-694276" algn="l" defTabSz="2777100" rtl="0" eaLnBrk="1" latinLnBrk="1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1pPr>
      <a:lvl2pPr marL="13885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2pPr>
      <a:lvl3pPr marL="2777100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3pPr>
      <a:lvl4pPr marL="4165649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4pPr>
      <a:lvl5pPr marL="555419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5pPr>
      <a:lvl6pPr marL="69427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6pPr>
      <a:lvl7pPr marL="8331298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7pPr>
      <a:lvl8pPr marL="9719847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8pPr>
      <a:lvl9pPr marL="11108396" algn="l" defTabSz="2777100" rtl="0" eaLnBrk="1" latinLnBrk="1" hangingPunct="1">
        <a:defRPr sz="5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E06C4-5111-B7F3-02BC-B92FC6F9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4FBE42-305D-145D-7F49-1EEAB577247A}"/>
              </a:ext>
            </a:extLst>
          </p:cNvPr>
          <p:cNvSpPr/>
          <p:nvPr/>
        </p:nvSpPr>
        <p:spPr>
          <a:xfrm>
            <a:off x="686376" y="6059516"/>
            <a:ext cx="9723171" cy="1861212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현대 개인 사용자들은 다양한 데이터를 여러 애플리케이션에 분산해 관리하고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이러한 구조는 정보가 분절되어 집중력 저하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작업 전환 피로도 증가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개인정보 누락 위험 등 여러 문제를 초래한다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멀티모달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인터페이스의 보편화로 텍스트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이미지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음성 등 다양한 입력 방식이 자연스럽게 사용되는 환경에서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분산된 정보를 한 화면에서 통합적으로 관리할 수 있는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PIMS(Personal Information Management System)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필요성은 더욱 커지고 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3E51CE-09D7-C1C6-8C53-64DC599ADA36}"/>
              </a:ext>
            </a:extLst>
          </p:cNvPr>
          <p:cNvSpPr/>
          <p:nvPr/>
        </p:nvSpPr>
        <p:spPr>
          <a:xfrm>
            <a:off x="10974082" y="6059517"/>
            <a:ext cx="9723173" cy="112254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Vite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기반 프로토타입에서는 채팅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캘린더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가계부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메모장 기능이 서로 유기적으로 연결되어 작동함을 확인하였다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비용 기록 기능에서는 텍스트와 이미지를 함께 활용하고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OCR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활용한 자동 정보 추출이 안정적으로 수행됨을 검증하였다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3E6AEC3-6029-0275-FBA4-307272B86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782805"/>
              </p:ext>
            </p:extLst>
          </p:nvPr>
        </p:nvGraphicFramePr>
        <p:xfrm>
          <a:off x="10979707" y="18403605"/>
          <a:ext cx="9723175" cy="356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1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6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주요 항목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6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세부 질문</a:t>
                      </a:r>
                      <a:endParaRPr lang="en-US" altLang="ko-KR" sz="1600" b="1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8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1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전반적인 사용 경험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기능 연동성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8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정보 확인 편리성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88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성능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반응 속도 만족도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507"/>
                  </a:ext>
                </a:extLst>
              </a:tr>
              <a:tr h="35618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오류</a:t>
                      </a: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지연 유무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238098"/>
                  </a:ext>
                </a:extLst>
              </a:tr>
              <a:tr h="35618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오류</a:t>
                      </a: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지연 상세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960895"/>
                  </a:ext>
                </a:extLst>
              </a:tr>
              <a:tr h="35618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3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기능 사용성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비용 기록</a:t>
                      </a: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(OCR) </a:t>
                      </a: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편리성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18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UI </a:t>
                      </a: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구성 편의성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18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4</a:t>
                      </a: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개선 의견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개선 필요 부분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188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600" kern="1200" spc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추가 개선 사항</a:t>
                      </a:r>
                      <a:r>
                        <a:rPr lang="en-US" altLang="ko-KR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600" kern="1200" spc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자유 의견</a:t>
                      </a:r>
                    </a:p>
                  </a:txBody>
                  <a:tcPr marL="25385" marR="25385" marT="32239" marB="32239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602010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7D2F04-73C8-9BC8-8B78-D163E91C55EA}"/>
              </a:ext>
            </a:extLst>
          </p:cNvPr>
          <p:cNvSpPr/>
          <p:nvPr/>
        </p:nvSpPr>
        <p:spPr>
          <a:xfrm>
            <a:off x="11116102" y="17405463"/>
            <a:ext cx="9314147" cy="815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388" tIns="15193" rIns="30388" bIns="15193" spcCol="0" rtlCol="0" anchor="ctr"/>
          <a:lstStyle/>
          <a:p>
            <a:pPr marL="0" lvl="1">
              <a:lnSpc>
                <a:spcPct val="107000"/>
              </a:lnSpc>
              <a:spcAft>
                <a:spcPts val="352"/>
              </a:spcAft>
            </a:pPr>
            <a:r>
              <a:rPr lang="en-US" altLang="ko-KR" sz="1800" b="1" spc="-1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Table. PIMS </a:t>
            </a:r>
            <a:r>
              <a:rPr lang="ko-KR" altLang="en-US" sz="1800" b="1" spc="-1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프로토타입 사용자 설문 항목</a:t>
            </a:r>
            <a:endParaRPr lang="en-US" altLang="ko-KR" sz="1800" b="1" spc="-1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2081E900-6065-EFD4-5BB6-09E199D222F0}"/>
              </a:ext>
            </a:extLst>
          </p:cNvPr>
          <p:cNvSpPr/>
          <p:nvPr/>
        </p:nvSpPr>
        <p:spPr>
          <a:xfrm>
            <a:off x="10984126" y="16090409"/>
            <a:ext cx="9723173" cy="112254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명을 대상으로 진행한 사용자 테스트 결과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한 화면에서 여러 정보를 즉시 확인할 수 있다는 점이 긍정적으로 평가되었다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과정에서 검색 기능 강화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알림 설정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모바일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UI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개선 등 추가적인 개선 필요성이 도출되었다</a:t>
            </a:r>
            <a:endParaRPr lang="en-US" altLang="ko-KR" sz="2000" spc="-15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83" name="사각형: 둥근 모서리 282">
            <a:extLst>
              <a:ext uri="{FF2B5EF4-FFF2-40B4-BE49-F238E27FC236}">
                <a16:creationId xmlns:a16="http://schemas.microsoft.com/office/drawing/2014/main" id="{2F2EDD0A-A306-7168-D3BF-47D24AAF8CCB}"/>
              </a:ext>
            </a:extLst>
          </p:cNvPr>
          <p:cNvSpPr/>
          <p:nvPr/>
        </p:nvSpPr>
        <p:spPr>
          <a:xfrm>
            <a:off x="688578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rgbClr val="B0111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>
              <a:defRPr/>
            </a:pPr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 Background </a:t>
            </a: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60B5DB56-CB7B-7335-FE21-C12147BD8C9C}"/>
              </a:ext>
            </a:extLst>
          </p:cNvPr>
          <p:cNvSpPr/>
          <p:nvPr/>
        </p:nvSpPr>
        <p:spPr>
          <a:xfrm>
            <a:off x="685259" y="9387962"/>
            <a:ext cx="9723171" cy="1861212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기존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PIMS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정형화된 입력 방식과 낮은 접근성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개인정보 보호 및 데이터 동기화 같은 기술적 한계를 가진다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이에 </a:t>
            </a:r>
            <a:r>
              <a:rPr lang="en-US" altLang="ko-KR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LifeONE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여러 앱에 흩어진 개인 정보를 하나의 서비스로 통합하고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채팅 기반 인터페이스만으로 모든 데이터를 자연스럽게 입력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관리할 수 있는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PIMS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목표로 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사용자는 화면 전환이나 복잡한 양식 없이 대화하듯 정보를 입력하면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시스템이 이를 자동으로 해석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정리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저장하도록 설계하였다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6" name="사각형: 둥근 모서리 285">
            <a:extLst>
              <a:ext uri="{FF2B5EF4-FFF2-40B4-BE49-F238E27FC236}">
                <a16:creationId xmlns:a16="http://schemas.microsoft.com/office/drawing/2014/main" id="{EBB99852-264D-65B3-128F-C05E697C8DEB}"/>
              </a:ext>
            </a:extLst>
          </p:cNvPr>
          <p:cNvSpPr/>
          <p:nvPr/>
        </p:nvSpPr>
        <p:spPr>
          <a:xfrm>
            <a:off x="687460" y="8590397"/>
            <a:ext cx="9724290" cy="761695"/>
          </a:xfrm>
          <a:prstGeom prst="roundRect">
            <a:avLst>
              <a:gd name="adj" fmla="val 50000"/>
            </a:avLst>
          </a:prstGeom>
          <a:solidFill>
            <a:srgbClr val="B0111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Objectives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D4CB565-5998-B150-3D15-DA745CAFB618}"/>
              </a:ext>
            </a:extLst>
          </p:cNvPr>
          <p:cNvGrpSpPr/>
          <p:nvPr/>
        </p:nvGrpSpPr>
        <p:grpSpPr>
          <a:xfrm>
            <a:off x="691913" y="11951534"/>
            <a:ext cx="9726491" cy="9306752"/>
            <a:chOff x="686377" y="12689334"/>
            <a:chExt cx="9726491" cy="9306752"/>
          </a:xfrm>
        </p:grpSpPr>
        <p:sp>
          <p:nvSpPr>
            <p:cNvPr id="280" name="직사각형 279">
              <a:extLst>
                <a:ext uri="{FF2B5EF4-FFF2-40B4-BE49-F238E27FC236}">
                  <a16:creationId xmlns:a16="http://schemas.microsoft.com/office/drawing/2014/main" id="{FD1F0154-29D8-7CBB-8A4C-C1DB7C90F8BD}"/>
                </a:ext>
              </a:extLst>
            </p:cNvPr>
            <p:cNvSpPr/>
            <p:nvPr/>
          </p:nvSpPr>
          <p:spPr>
            <a:xfrm>
              <a:off x="686377" y="13486900"/>
              <a:ext cx="9723171" cy="8509186"/>
            </a:xfrm>
            <a:prstGeom prst="rect">
              <a:avLst/>
            </a:prstGeom>
          </p:spPr>
          <p:txBody>
            <a:bodyPr wrap="square" lIns="70735" tIns="35368" rIns="70735" bIns="35368">
              <a:spAutoFit/>
            </a:bodyPr>
            <a:lstStyle/>
            <a:p>
              <a:pPr marL="0" lvl="1">
                <a:lnSpc>
                  <a:spcPct val="120000"/>
                </a:lnSpc>
              </a:pP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LifeONE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은 클라이언트 중심 구조로 설계되었으며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별도의 </a:t>
              </a:r>
              <a:r>
                <a:rPr lang="ko-KR" altLang="en-US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백엔드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서버 없이 브라우저에서 독립적으로 동작한다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시스템은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AI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서비스 계층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프론트엔드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계층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데이터 저장 계층의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계층으로 구성된다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  <a:p>
              <a:pPr marL="0" lvl="1">
                <a:lnSpc>
                  <a:spcPct val="120000"/>
                </a:lnSpc>
              </a:pPr>
              <a:endPara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marL="0" lvl="1">
                <a:lnSpc>
                  <a:spcPct val="120000"/>
                </a:lnSpc>
              </a:pP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AI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서비스 계층은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geminiService.ts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를 중심으로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Google Gemini 2.5 Flash API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를 활용하여 사용자 입력을 분석하고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processChat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()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함수가 자연어와 이미지를 연락처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일정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지출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/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수입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메모로 자동 분류한다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  <a:p>
              <a:pPr marL="0" lvl="1">
                <a:lnSpc>
                  <a:spcPct val="120000"/>
                </a:lnSpc>
              </a:pPr>
              <a:endPara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marL="0" lvl="1">
                <a:lnSpc>
                  <a:spcPct val="120000"/>
                </a:lnSpc>
              </a:pPr>
              <a:r>
                <a:rPr lang="ko-KR" altLang="en-US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프론트엔드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계층은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React 19.2 + TypeScript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기반이며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Vite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빌드를 통해 단일 페이지 애플리케이션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(SPA)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방식으로 동작한다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화면은 입력 인터페이스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데이터 관리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시각화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내비게이션 등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18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개의 컴포넌트로 기능별 분리되어 있으며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전역 상태 관리는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App.tsx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가 담당한다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  <a:p>
              <a:pPr marL="0" lvl="1">
                <a:lnSpc>
                  <a:spcPct val="120000"/>
                </a:lnSpc>
              </a:pPr>
              <a:endPara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marL="0" lvl="1">
                <a:lnSpc>
                  <a:spcPct val="120000"/>
                </a:lnSpc>
              </a:pP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데이터 저장은 브라우저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LocalStorage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를 사용해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JSON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형태로 보관하며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이미지는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Base64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로 함께 저장된다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 React State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가 변경될 때 자동으로 동기화되어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서버 없이도 개인정보를 안전하게 관리할 수 있다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  <a:p>
              <a:pPr marL="0" lvl="1">
                <a:lnSpc>
                  <a:spcPct val="120000"/>
                </a:lnSpc>
              </a:pPr>
              <a:endPara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marL="0" lvl="1">
                <a:lnSpc>
                  <a:spcPct val="120000"/>
                </a:lnSpc>
              </a:pP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흐름은 사용자 입력 →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Gemini API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분석 → 구조화된 데이터 반환 →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App.tsx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에서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ID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부여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 검사 → 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React State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업데이트 → </a:t>
              </a:r>
              <a:r>
                <a:rPr lang="en-US" altLang="ko-KR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LocalStorage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 → 컴포넌트 </a:t>
              </a:r>
              <a:r>
                <a:rPr lang="ko-KR" altLang="en-US" sz="2000" spc="-15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리렌더링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 순서로 진행된다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  <a:p>
              <a:pPr marL="0" lvl="1">
                <a:lnSpc>
                  <a:spcPct val="120000"/>
                </a:lnSpc>
              </a:pPr>
              <a:endPara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endParaRPr>
            </a:p>
            <a:p>
              <a:pPr marL="0" lvl="1">
                <a:lnSpc>
                  <a:spcPct val="120000"/>
                </a:lnSpc>
              </a:pP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사용자는 하나의 채팅 인터페이스에서 모든 정보를 입력하고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, 8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개의 뷰를 전환하며 일정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지출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연락처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메모를 통합적으로 조회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·</a:t>
              </a:r>
              <a:r>
                <a:rPr lang="ko-KR" altLang="en-US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편집할 수 있다</a:t>
              </a:r>
              <a:r>
                <a:rPr lang="en-US" altLang="ko-KR" sz="2000" spc="-15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89" name="사각형: 둥근 모서리 288">
              <a:extLst>
                <a:ext uri="{FF2B5EF4-FFF2-40B4-BE49-F238E27FC236}">
                  <a16:creationId xmlns:a16="http://schemas.microsoft.com/office/drawing/2014/main" id="{99FEBF90-C3F4-D3B1-134C-BBE00B2FB200}"/>
                </a:ext>
              </a:extLst>
            </p:cNvPr>
            <p:cNvSpPr/>
            <p:nvPr/>
          </p:nvSpPr>
          <p:spPr>
            <a:xfrm>
              <a:off x="688578" y="12689334"/>
              <a:ext cx="9724290" cy="761695"/>
            </a:xfrm>
            <a:prstGeom prst="roundRect">
              <a:avLst>
                <a:gd name="adj" fmla="val 50000"/>
              </a:avLst>
            </a:prstGeom>
            <a:solidFill>
              <a:srgbClr val="B01116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3897" rIns="253897" rtlCol="0" anchor="ctr"/>
            <a:lstStyle/>
            <a:p>
              <a:pPr defTabSz="2190186"/>
              <a:r>
                <a:rPr lang="en-US" altLang="ko-KR" sz="43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 ExtraBold" pitchFamily="50" charset="-127"/>
                  <a:ea typeface="나눔고딕 ExtraBold" pitchFamily="50" charset="-127"/>
                </a:rPr>
                <a:t>Methods</a:t>
              </a:r>
            </a:p>
          </p:txBody>
        </p:sp>
      </p:grp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FC9203F1-0C6A-AC10-1152-19804D85B885}"/>
              </a:ext>
            </a:extLst>
          </p:cNvPr>
          <p:cNvSpPr/>
          <p:nvPr/>
        </p:nvSpPr>
        <p:spPr>
          <a:xfrm>
            <a:off x="10978592" y="5265168"/>
            <a:ext cx="9724290" cy="761695"/>
          </a:xfrm>
          <a:prstGeom prst="roundRect">
            <a:avLst>
              <a:gd name="adj" fmla="val 50000"/>
            </a:avLst>
          </a:prstGeom>
          <a:solidFill>
            <a:srgbClr val="B0111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Results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D594778-3FD2-2F14-3897-68F1B27412C1}"/>
              </a:ext>
            </a:extLst>
          </p:cNvPr>
          <p:cNvSpPr/>
          <p:nvPr/>
        </p:nvSpPr>
        <p:spPr>
          <a:xfrm>
            <a:off x="15108539" y="15578259"/>
            <a:ext cx="14542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개선 필요 부분</a:t>
            </a:r>
            <a:endParaRPr lang="ko-KR" altLang="en-US" sz="16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34DA3D-5B7F-0FAF-215F-ACEFEF674CDC}"/>
              </a:ext>
            </a:extLst>
          </p:cNvPr>
          <p:cNvSpPr/>
          <p:nvPr/>
        </p:nvSpPr>
        <p:spPr>
          <a:xfrm>
            <a:off x="-1" y="796157"/>
            <a:ext cx="21383625" cy="1856541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/>
            <a:r>
              <a:rPr lang="ko-KR" altLang="en-US" sz="5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채팅형 통합관리 서비스</a:t>
            </a:r>
            <a:endParaRPr lang="en-US" altLang="ko-KR" sz="58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58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  <a:cs typeface="Arial" panose="020B0604020202020204" pitchFamily="34" charset="0"/>
              </a:rPr>
              <a:t>LifeONE</a:t>
            </a:r>
            <a:endParaRPr lang="ko-KR" altLang="en-US" sz="58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346979-354C-B9A6-0724-078CF5CFA5C9}"/>
              </a:ext>
            </a:extLst>
          </p:cNvPr>
          <p:cNvSpPr/>
          <p:nvPr/>
        </p:nvSpPr>
        <p:spPr>
          <a:xfrm>
            <a:off x="686374" y="3214733"/>
            <a:ext cx="19853438" cy="471355"/>
          </a:xfrm>
          <a:prstGeom prst="rect">
            <a:avLst/>
          </a:prstGeom>
        </p:spPr>
        <p:txBody>
          <a:bodyPr wrap="square" lIns="70747" tIns="35373" rIns="70747" bIns="35373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김하은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이진수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4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김동선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4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김미소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나사렛대학교 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IT</a:t>
            </a:r>
            <a:r>
              <a:rPr lang="ko-KR" altLang="en-US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인공지능학부</a:t>
            </a:r>
            <a:r>
              <a:rPr lang="en-US" altLang="ko-KR" sz="2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4DA57F3-2D50-BD45-5BFE-122CB7462760}"/>
              </a:ext>
            </a:extLst>
          </p:cNvPr>
          <p:cNvSpPr/>
          <p:nvPr/>
        </p:nvSpPr>
        <p:spPr>
          <a:xfrm>
            <a:off x="10984127" y="23083477"/>
            <a:ext cx="9723173" cy="1122548"/>
          </a:xfrm>
          <a:prstGeom prst="rect">
            <a:avLst/>
          </a:prstGeom>
        </p:spPr>
        <p:txBody>
          <a:bodyPr wrap="square" lIns="70735" tIns="35368" rIns="70735" bIns="35368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n-US" altLang="ko-KR" sz="2000" spc="-15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LifeONE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분산된 개인 정보를 통합 관리하는 채팅 기반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PIMS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구현하여 개인 정보 관리 패러다임을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수동적 기록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에서 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대화형 협업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전환하였다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r>
              <a:rPr lang="ko-KR" altLang="en-US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연구의 주요 성과는 네 가지로 요약된다</a:t>
            </a:r>
            <a:r>
              <a:rPr lang="en-US" altLang="ko-KR" sz="2000" spc="-15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5" name="사각형: 둥근 모서리 294">
            <a:extLst>
              <a:ext uri="{FF2B5EF4-FFF2-40B4-BE49-F238E27FC236}">
                <a16:creationId xmlns:a16="http://schemas.microsoft.com/office/drawing/2014/main" id="{6E154519-67A8-CABB-3B5B-1C11C5AAFB48}"/>
              </a:ext>
            </a:extLst>
          </p:cNvPr>
          <p:cNvSpPr/>
          <p:nvPr/>
        </p:nvSpPr>
        <p:spPr>
          <a:xfrm>
            <a:off x="10988635" y="22290906"/>
            <a:ext cx="9724290" cy="761695"/>
          </a:xfrm>
          <a:prstGeom prst="roundRect">
            <a:avLst>
              <a:gd name="adj" fmla="val 50000"/>
            </a:avLst>
          </a:prstGeom>
          <a:solidFill>
            <a:srgbClr val="B01116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3897" rIns="253897" rtlCol="0" anchor="ctr"/>
          <a:lstStyle/>
          <a:p>
            <a:pPr defTabSz="2190186"/>
            <a:r>
              <a:rPr lang="en-US" altLang="ko-KR" sz="43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Conclusions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426ACE-9C0D-86A3-ABAB-01443FD543DD}"/>
              </a:ext>
            </a:extLst>
          </p:cNvPr>
          <p:cNvSpPr/>
          <p:nvPr/>
        </p:nvSpPr>
        <p:spPr>
          <a:xfrm>
            <a:off x="11007152" y="24531607"/>
            <a:ext cx="9532658" cy="11728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spc="-40"/>
          </a:p>
        </p:txBody>
      </p:sp>
      <p:sp>
        <p:nvSpPr>
          <p:cNvPr id="13" name="모서리가 둥근 직사각형 81">
            <a:extLst>
              <a:ext uri="{FF2B5EF4-FFF2-40B4-BE49-F238E27FC236}">
                <a16:creationId xmlns:a16="http://schemas.microsoft.com/office/drawing/2014/main" id="{563A50B7-DC61-D6D6-2684-33BABEF01EDB}"/>
              </a:ext>
            </a:extLst>
          </p:cNvPr>
          <p:cNvSpPr/>
          <p:nvPr/>
        </p:nvSpPr>
        <p:spPr>
          <a:xfrm>
            <a:off x="11149177" y="24799789"/>
            <a:ext cx="591403" cy="574919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/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01</a:t>
            </a:r>
            <a:endParaRPr lang="ko-KR" altLang="en-US" sz="2000" b="1" spc="-4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77E292-88CC-D491-6274-F99C035614C0}"/>
              </a:ext>
            </a:extLst>
          </p:cNvPr>
          <p:cNvSpPr/>
          <p:nvPr/>
        </p:nvSpPr>
        <p:spPr>
          <a:xfrm>
            <a:off x="11823410" y="24733013"/>
            <a:ext cx="8716399" cy="769992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/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여러 애플리케이션에 나뉘어 있던 기능을 단일 대화형 인터페이스로 통합하여 앱 전환으로 인한 인지 부하와 작업 전환 피로도를 감소시켰다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358FC6-59CD-B070-70E8-F7C9FB26B950}"/>
              </a:ext>
            </a:extLst>
          </p:cNvPr>
          <p:cNvSpPr/>
          <p:nvPr/>
        </p:nvSpPr>
        <p:spPr>
          <a:xfrm>
            <a:off x="11007152" y="25832335"/>
            <a:ext cx="9532658" cy="1172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spc="-40"/>
          </a:p>
        </p:txBody>
      </p:sp>
      <p:sp>
        <p:nvSpPr>
          <p:cNvPr id="21" name="모서리가 둥근 직사각형 81">
            <a:extLst>
              <a:ext uri="{FF2B5EF4-FFF2-40B4-BE49-F238E27FC236}">
                <a16:creationId xmlns:a16="http://schemas.microsoft.com/office/drawing/2014/main" id="{C587D46D-A87B-827E-3A43-CD930B5BECA0}"/>
              </a:ext>
            </a:extLst>
          </p:cNvPr>
          <p:cNvSpPr/>
          <p:nvPr/>
        </p:nvSpPr>
        <p:spPr>
          <a:xfrm>
            <a:off x="11149177" y="26131277"/>
            <a:ext cx="591403" cy="574918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/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02</a:t>
            </a:r>
            <a:endParaRPr lang="ko-KR" altLang="en-US" sz="2000" b="1" spc="-4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6BF0B3-A783-127A-470C-2DC08DF339FF}"/>
              </a:ext>
            </a:extLst>
          </p:cNvPr>
          <p:cNvSpPr/>
          <p:nvPr/>
        </p:nvSpPr>
        <p:spPr>
          <a:xfrm>
            <a:off x="11825877" y="26030845"/>
            <a:ext cx="8680858" cy="769992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/>
          <a:p>
            <a:pPr marL="0" lvl="1" latinLnBrk="0">
              <a:lnSpc>
                <a:spcPct val="120000"/>
              </a:lnSpc>
            </a:pP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Google Gemini API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를 활용한 </a:t>
            </a:r>
            <a:r>
              <a:rPr lang="ko-KR" altLang="en-US" sz="2000" b="1" spc="-4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멀티모달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입력 처리 시스템을 구현하여 복잡한 양식 입력 없이 텍스트와 이미지를 자연스럽게 처리할 수 있도록 하였다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6A838C-5D34-565B-BD3E-719082D3D145}"/>
              </a:ext>
            </a:extLst>
          </p:cNvPr>
          <p:cNvSpPr/>
          <p:nvPr/>
        </p:nvSpPr>
        <p:spPr>
          <a:xfrm>
            <a:off x="11007152" y="27133075"/>
            <a:ext cx="9532658" cy="1172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spc="-40"/>
          </a:p>
        </p:txBody>
      </p:sp>
      <p:sp>
        <p:nvSpPr>
          <p:cNvPr id="25" name="모서리가 둥근 직사각형 81">
            <a:extLst>
              <a:ext uri="{FF2B5EF4-FFF2-40B4-BE49-F238E27FC236}">
                <a16:creationId xmlns:a16="http://schemas.microsoft.com/office/drawing/2014/main" id="{3CD97929-4A3C-A419-09C3-534A441C4684}"/>
              </a:ext>
            </a:extLst>
          </p:cNvPr>
          <p:cNvSpPr/>
          <p:nvPr/>
        </p:nvSpPr>
        <p:spPr>
          <a:xfrm>
            <a:off x="11149177" y="27432017"/>
            <a:ext cx="591403" cy="574918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/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03</a:t>
            </a:r>
            <a:endParaRPr lang="ko-KR" altLang="en-US" sz="2000" b="1" spc="-4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88A28B-7823-F75E-7B3F-30F776AC8237}"/>
              </a:ext>
            </a:extLst>
          </p:cNvPr>
          <p:cNvSpPr/>
          <p:nvPr/>
        </p:nvSpPr>
        <p:spPr>
          <a:xfrm>
            <a:off x="11823989" y="27337046"/>
            <a:ext cx="8682746" cy="769992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/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모호한 입력을 자동으로 감지하고 명확한 질문을 생성하는 지능형 메커니즘을 통해 데이터의 정확성과 사용자 의도 반영도를 향상시켰다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04780A-1EE0-EA89-CFE2-14EE51F0D32B}"/>
              </a:ext>
            </a:extLst>
          </p:cNvPr>
          <p:cNvSpPr/>
          <p:nvPr/>
        </p:nvSpPr>
        <p:spPr>
          <a:xfrm>
            <a:off x="10974077" y="28433822"/>
            <a:ext cx="9532658" cy="11728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spc="-40"/>
          </a:p>
        </p:txBody>
      </p:sp>
      <p:sp>
        <p:nvSpPr>
          <p:cNvPr id="4" name="모서리가 둥근 직사각형 81">
            <a:extLst>
              <a:ext uri="{FF2B5EF4-FFF2-40B4-BE49-F238E27FC236}">
                <a16:creationId xmlns:a16="http://schemas.microsoft.com/office/drawing/2014/main" id="{EC697CC4-05EC-7BA7-8BA8-8727CDAD71B3}"/>
              </a:ext>
            </a:extLst>
          </p:cNvPr>
          <p:cNvSpPr/>
          <p:nvPr/>
        </p:nvSpPr>
        <p:spPr>
          <a:xfrm>
            <a:off x="11116102" y="28732764"/>
            <a:ext cx="591403" cy="574918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/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04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D2B42C-7D6F-B96C-78EE-CF2E7A493663}"/>
              </a:ext>
            </a:extLst>
          </p:cNvPr>
          <p:cNvSpPr/>
          <p:nvPr/>
        </p:nvSpPr>
        <p:spPr>
          <a:xfrm>
            <a:off x="11826289" y="28450561"/>
            <a:ext cx="8680445" cy="1139324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/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클라이언트 측 </a:t>
            </a:r>
            <a:r>
              <a:rPr lang="en-US" altLang="ko-KR" sz="2000" b="1" spc="-4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LocalStorage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를 활용한 프라이버시 중심 아키텍처로 민감한 개인정보가 외부 서버에 저장되지 않도록 설계하여 개인정보 보호 문제를 해결하였다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65CD894-5CEA-E6C3-52DA-613945E5D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9" y="26832945"/>
            <a:ext cx="9724290" cy="2773680"/>
          </a:xfrm>
          <a:prstGeom prst="rect">
            <a:avLst/>
          </a:prstGeom>
          <a:ln>
            <a:solidFill>
              <a:srgbClr val="B01116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4C551C-0C67-457C-4A51-E2D52B3E3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9" y="21591876"/>
            <a:ext cx="9724290" cy="5139018"/>
          </a:xfrm>
          <a:prstGeom prst="rect">
            <a:avLst/>
          </a:prstGeom>
          <a:ln>
            <a:solidFill>
              <a:srgbClr val="B01116"/>
            </a:solidFill>
          </a:ln>
        </p:spPr>
      </p:pic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153F0D24-A618-9F84-E20C-BEEEAA2587A4}"/>
              </a:ext>
            </a:extLst>
          </p:cNvPr>
          <p:cNvSpPr/>
          <p:nvPr/>
        </p:nvSpPr>
        <p:spPr>
          <a:xfrm>
            <a:off x="11116102" y="8080822"/>
            <a:ext cx="9502700" cy="419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388" tIns="15193" rIns="30388" bIns="15193" spcCol="0" rtlCol="0" anchor="ctr"/>
          <a:lstStyle/>
          <a:p>
            <a:pPr marL="0" lvl="1">
              <a:lnSpc>
                <a:spcPct val="107000"/>
              </a:lnSpc>
              <a:spcAft>
                <a:spcPts val="352"/>
              </a:spcAft>
            </a:pPr>
            <a:r>
              <a:rPr lang="en-US" altLang="ko-KR" sz="1800" b="1" spc="-1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Fig. </a:t>
            </a:r>
            <a:r>
              <a:rPr lang="da-DK" altLang="ko-KR" sz="1800" b="1" spc="-1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PIMS </a:t>
            </a:r>
            <a:r>
              <a:rPr lang="ko-KR" altLang="en-US" sz="1800" b="1" spc="-1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프로토타입 사용자 설문 결과</a:t>
            </a:r>
            <a:endParaRPr lang="en-US" altLang="ko-KR" sz="1800" b="1" spc="-1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D90CE0C-FDDF-8EA3-FBCB-5DE623487317}"/>
              </a:ext>
            </a:extLst>
          </p:cNvPr>
          <p:cNvSpPr/>
          <p:nvPr/>
        </p:nvSpPr>
        <p:spPr>
          <a:xfrm>
            <a:off x="11415290" y="11545811"/>
            <a:ext cx="16466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정보 확인 편리성</a:t>
            </a:r>
            <a:endParaRPr lang="ko-KR" altLang="en-US" sz="1600" b="1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8201A29-8349-9B69-AD76-D36B3F8BA777}"/>
              </a:ext>
            </a:extLst>
          </p:cNvPr>
          <p:cNvSpPr/>
          <p:nvPr/>
        </p:nvSpPr>
        <p:spPr>
          <a:xfrm>
            <a:off x="15012360" y="11543325"/>
            <a:ext cx="16466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반응 속도 만족도</a:t>
            </a:r>
            <a:endParaRPr lang="ko-KR" altLang="en-US" sz="1600" b="1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2DD26892-C5E1-3387-F1D6-B2F5F28C88E0}"/>
              </a:ext>
            </a:extLst>
          </p:cNvPr>
          <p:cNvSpPr/>
          <p:nvPr/>
        </p:nvSpPr>
        <p:spPr>
          <a:xfrm>
            <a:off x="18549483" y="11543325"/>
            <a:ext cx="14606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UI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</a:rPr>
              <a:t> 구성 편의성</a:t>
            </a:r>
            <a:endParaRPr lang="ko-KR" altLang="en-US" sz="16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CB97CE-4003-16CC-BD3E-DCDCB8249B9A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rcRect l="14933" t="13853" r="15036" b="2775"/>
          <a:stretch>
            <a:fillRect/>
          </a:stretch>
        </p:blipFill>
        <p:spPr>
          <a:xfrm>
            <a:off x="10978592" y="8716293"/>
            <a:ext cx="2520000" cy="252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2E8AE8-8D4C-60B1-C339-CC3275CE338F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rcRect l="8303" t="14778" r="6170" b="2896"/>
          <a:stretch>
            <a:fillRect/>
          </a:stretch>
        </p:blipFill>
        <p:spPr>
          <a:xfrm>
            <a:off x="14474837" y="8711277"/>
            <a:ext cx="2520000" cy="252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BC3DF0-CBD1-B706-38E7-37A2CA6B9457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rcRect l="5429" t="10773" r="8729" b="3527"/>
          <a:stretch>
            <a:fillRect/>
          </a:stretch>
        </p:blipFill>
        <p:spPr>
          <a:xfrm>
            <a:off x="18019809" y="8711277"/>
            <a:ext cx="2520000" cy="252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E8A3612-D52E-1590-1CB4-E9AB737CF1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464" t="9461" r="6467" b="3046"/>
          <a:stretch>
            <a:fillRect/>
          </a:stretch>
        </p:blipFill>
        <p:spPr>
          <a:xfrm>
            <a:off x="11077763" y="12195525"/>
            <a:ext cx="9314147" cy="32172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63A24F-0774-F6CD-661E-A5A2A44E54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74072" y="7271013"/>
            <a:ext cx="1448002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5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632</Words>
  <Application>Microsoft Office PowerPoint</Application>
  <PresentationFormat>사용자 지정</PresentationFormat>
  <Paragraphs>58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나눔고딕 ExtraBold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김하은</cp:lastModifiedBy>
  <cp:revision>181</cp:revision>
  <dcterms:created xsi:type="dcterms:W3CDTF">2018-10-17T01:18:09Z</dcterms:created>
  <dcterms:modified xsi:type="dcterms:W3CDTF">2025-11-24T00:54:40Z</dcterms:modified>
</cp:coreProperties>
</file>